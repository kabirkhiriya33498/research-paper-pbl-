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notesMaster" Target="notesMasters/notesMaster1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 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Table 1: Storage Cost Comparison (₹/ton/month)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(₹/ton/month)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A234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WDRA Ecosystem
(Min)</c:v>
                </c:pt>
                <c:pt idx="1">
                  <c:v>WDRA Ecosystem
(Max)</c:v>
                </c:pt>
                <c:pt idx="2">
                  <c:v>Collateral Mgr.
(Min)</c:v>
                </c:pt>
                <c:pt idx="3">
                  <c:v>Collateral Mgr.
(Max)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7.25</c:v>
                </c:pt>
                <c:pt idx="1">
                  <c:v>7.93</c:v>
                </c:pt>
                <c:pt idx="2">
                  <c:v>33.33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0F-C841-BCE9-05B65BF3BE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Table 3: Projected Rollout – Warehouses &amp; Credit Access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WDRA Warehouses</c:v>
                </c:pt>
              </c:strCache>
            </c:strRef>
          </c:tx>
          <c:spPr>
            <a:ln w="31750" cap="flat">
              <a:solidFill>
                <a:srgbClr val="00C9A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C9A7"/>
              </a:solidFill>
              <a:ln w="9525" cap="flat">
                <a:solidFill>
                  <a:srgbClr val="00C9A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Year 0</c:v>
                </c:pt>
                <c:pt idx="1">
                  <c:v>Year 2</c:v>
                </c:pt>
                <c:pt idx="2">
                  <c:v>Year 4</c:v>
                </c:pt>
                <c:pt idx="3">
                  <c:v>Year 6</c:v>
                </c:pt>
                <c:pt idx="4">
                  <c:v>Year 8</c:v>
                </c:pt>
                <c:pt idx="5">
                  <c:v>Year 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1973</c:v>
                </c:pt>
                <c:pt idx="1">
                  <c:v>5000</c:v>
                </c:pt>
                <c:pt idx="2">
                  <c:v>10000</c:v>
                </c:pt>
                <c:pt idx="3">
                  <c:v>16000</c:v>
                </c:pt>
                <c:pt idx="4">
                  <c:v>23000</c:v>
                </c:pt>
                <c:pt idx="5">
                  <c:v>30000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504-2B47-87E9-417F87E216C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Farmer Credit Access (%)</c:v>
                </c:pt>
              </c:strCache>
            </c:strRef>
          </c:tx>
          <c:spPr>
            <a:ln w="31750" cap="flat">
              <a:solidFill>
                <a:srgbClr val="F0C04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C040"/>
              </a:solidFill>
              <a:ln w="9525" cap="flat">
                <a:solidFill>
                  <a:srgbClr val="F0C04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Year 0</c:v>
                </c:pt>
                <c:pt idx="1">
                  <c:v>Year 2</c:v>
                </c:pt>
                <c:pt idx="2">
                  <c:v>Year 4</c:v>
                </c:pt>
                <c:pt idx="3">
                  <c:v>Year 6</c:v>
                </c:pt>
                <c:pt idx="4">
                  <c:v>Year 8</c:v>
                </c:pt>
                <c:pt idx="5">
                  <c:v>Year 10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</c:v>
                </c:pt>
                <c:pt idx="1">
                  <c:v>8</c:v>
                </c:pt>
                <c:pt idx="2">
                  <c:v>18</c:v>
                </c:pt>
                <c:pt idx="3">
                  <c:v>32</c:v>
                </c:pt>
                <c:pt idx="4">
                  <c:v>47</c:v>
                </c:pt>
                <c:pt idx="5">
                  <c:v>62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504-2B47-87E9-417F87E216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A2342"/>
                </a:solidFill>
                <a:latin typeface="Arial"/>
              </a:rPr>
              <a:t>Figure: Exploitation Mechanism Distribution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Exploitation Mechanism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bubble3D val="0"/>
            <c:spPr>
              <a:solidFill>
                <a:srgbClr val="00A896"/>
              </a:solidFill>
              <a:effectLst/>
            </c:spPr>
          </c:dPt>
          <c:dPt>
            <c:idx val="3"/>
            <c:bubble3D val="0"/>
            <c:spPr>
              <a:solidFill>
                <a:srgbClr val="F0C040"/>
              </a:solidFill>
              <a:effectLst/>
            </c:spPr>
          </c:dPt>
          <c:dPt>
            <c:idx val="4"/>
            <c:bubble3D val="0"/>
            <c:spPr>
              <a:solidFill>
                <a:srgbClr val="B85042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Info Asymmetry</c:v>
                </c:pt>
                <c:pt idx="1">
                  <c:v>Quality Manipulation</c:v>
                </c:pt>
                <c:pt idx="2">
                  <c:v>Grading Fraud</c:v>
                </c:pt>
                <c:pt idx="3">
                  <c:v>Arbitrary Deductions</c:v>
                </c:pt>
                <c:pt idx="4">
                  <c:v>Duplicate Receipts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AE-004D-9AA5-E914D55EAA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342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A2342"/>
                </a:solidFill>
                <a:latin typeface="Arial"/>
              </a:rPr>
              <a:t>Impact Metrics: Current vs Year 10 Projection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State</c:v>
                </c:pt>
              </c:strCache>
            </c:strRef>
          </c:tx>
          <c:spPr>
            <a:solidFill>
              <a:srgbClr val="47556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Farmer Credit Access (%)</c:v>
                </c:pt>
                <c:pt idx="1">
                  <c:v>WDRA Warehouses (×100)</c:v>
                </c:pt>
                <c:pt idx="2">
                  <c:v>Annual e-WRs (×10K)</c:v>
                </c:pt>
                <c:pt idx="3">
                  <c:v>Fraud Cases (×100)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19.73</c:v>
                </c:pt>
                <c:pt idx="2">
                  <c:v>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32-3448-8AEA-080786B6C4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10 Target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Farmer Credit Access (%)</c:v>
                </c:pt>
                <c:pt idx="1">
                  <c:v>WDRA Warehouses (×100)</c:v>
                </c:pt>
                <c:pt idx="2">
                  <c:v>Annual e-WRs (×10K)</c:v>
                </c:pt>
                <c:pt idx="3">
                  <c:v>Fraud Cases (×100)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</c:v>
                </c:pt>
                <c:pt idx="1">
                  <c:v>300</c:v>
                </c:pt>
                <c:pt idx="2">
                  <c:v>1000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F32-3448-8AEA-080786B6C4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07C11-EC2A-0340-A94F-05EB79FD6345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5F2DA-C3A7-9C44-BCEA-45F83D692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8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457200"/>
            <a:ext cx="201168" cy="201168"/>
          </a:xfrm>
          <a:prstGeom prst="ellipse">
            <a:avLst/>
          </a:prstGeom>
          <a:solidFill>
            <a:srgbClr val="00C9A7">
              <a:alpha val="4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66760" y="1234440"/>
            <a:ext cx="201168" cy="201168"/>
          </a:xfrm>
          <a:prstGeom prst="ellipse">
            <a:avLst/>
          </a:prstGeom>
          <a:solidFill>
            <a:srgbClr val="00C9A7">
              <a:alpha val="4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0" y="2011680"/>
            <a:ext cx="201168" cy="201168"/>
          </a:xfrm>
          <a:prstGeom prst="ellipse">
            <a:avLst/>
          </a:prstGeom>
          <a:solidFill>
            <a:srgbClr val="00C9A7">
              <a:alpha val="4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66760" y="2788920"/>
            <a:ext cx="201168" cy="201168"/>
          </a:xfrm>
          <a:prstGeom prst="ellipse">
            <a:avLst/>
          </a:prstGeom>
          <a:solidFill>
            <a:srgbClr val="00C9A7">
              <a:alpha val="4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0" y="3566160"/>
            <a:ext cx="201168" cy="201168"/>
          </a:xfrm>
          <a:prstGeom prst="ellipse">
            <a:avLst/>
          </a:prstGeom>
          <a:solidFill>
            <a:srgbClr val="00C9A7">
              <a:alpha val="4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solidFill>
            <a:srgbClr val="0D3B6E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71323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5486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BLOCKCHAIN-BASED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100584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Warehouse Receipt System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0040" y="1664208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Protection of Small &amp; Marginal Farmers in India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5029200" cy="36576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40280" y="2514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29900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No.: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99008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23FE10CSE00150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0040" y="34655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3465576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" y="39410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3941064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Based Learning – 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46634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Ankur Pandey  |  Dept. of CSE, VI Semester  |  Jan–May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274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" y="7132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188720"/>
            <a:ext cx="384048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8872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21615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719072"/>
            <a:ext cx="384048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1907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74650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249424"/>
            <a:ext cx="384048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24942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2276856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779776"/>
            <a:ext cx="384048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77977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807208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&amp; Design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" y="3310128"/>
            <a:ext cx="384048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10128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337560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Results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840480"/>
            <a:ext cx="384048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8404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867912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Charts &amp; Figures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4370832"/>
            <a:ext cx="384048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43708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" y="4398264"/>
            <a:ext cx="2103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2743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3200400" y="91440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914400"/>
            <a:ext cx="64008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051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Paradox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13898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produces 330 MMT food grains yet 86% of farmers remain financially vulnerable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17920" y="91440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217920" y="914400"/>
            <a:ext cx="64008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0515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55080" y="138988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warehouse receipts enable fraud, double financing &amp; exploitation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0" y="25603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00400" y="2560320"/>
            <a:ext cx="64008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37560" y="3035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Permissioned blockchain with NFT-based e-WRs &amp; smart contracts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2560320"/>
            <a:ext cx="27432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217920" y="2560320"/>
            <a:ext cx="64008" cy="14630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55080" y="26974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3035808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tamper-proof receipts enabling fair credit access for farmers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00400" y="42062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Conceptual Framework for Addressing Exploitation in Private Warehousing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 &amp; Problem Statement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1371600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MMT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food grain production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2011680" cy="1371600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on &lt;2 hectares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2011680" cy="1371600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₹5,600 Cr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NSEL scam losses (2014)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1005840"/>
            <a:ext cx="2011680" cy="1371600"/>
          </a:xfrm>
          <a:prstGeom prst="rect">
            <a:avLst/>
          </a:prstGeom>
          <a:solidFill>
            <a:srgbClr val="0A234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17190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 losses annually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7180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receipts lack traceability and immutability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financing enabled by opaque paper receipts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asymmetry: farmers can't verify stored produce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manipulation at withdrawal stage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grade reporting—farmers underpaid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audit trail for disputes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560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grain output grew 4.5x since 1966–67 (74→330 MMT)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14% of Bihar farmers have secondary or higher education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1,200–1,800 Cr estimated annual fraud in warehouse system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WDRA regulates only licensed warehouses—private left unmonitored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can eliminate intermediary-driven exploitation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pilot showed blockchain feasibility in warehousing</a:t>
            </a:r>
            <a:endParaRPr lang="en-US" sz="1000" dirty="0"/>
          </a:p>
          <a:p>
            <a:pPr marL="0" indent="0">
              <a:spcAft>
                <a:spcPts val="300"/>
              </a:spcAft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26280" y="2468880"/>
            <a:ext cx="45720" cy="242316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Literature Review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743200" cy="1828800"/>
          </a:xfrm>
          <a:prstGeom prst="rect">
            <a:avLst/>
          </a:prstGeom>
          <a:solidFill>
            <a:srgbClr val="0D3B6E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6070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WR Systems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India Rural Credit Survey (1954) first recommended warehouse receipts. Shankarlal Guru Committee (2001) pushed private sector involvement. WDRA Act 2007 established regulatory authority.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743200" cy="1828800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6070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WR Financing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WDRA ecosystem cost: ₹7.25–7.93/ton/month (0.22–0.24% p.a.) vs CMC cost ₹33.33/ton/month (0.75–1% p.a.). Banks rely on collateral managers lacking grain expertise.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743200" cy="182880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06070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Mechanisms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36208" y="148132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mechanisms: information asymmetry, quality manipulation, grading fraud, arbitrary deductions, duplicate receipts. IIMB (2022) documented systemic private warehouse fraud.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2743200" cy="1828800"/>
          </a:xfrm>
          <a:prstGeom prst="rect">
            <a:avLst/>
          </a:prstGeom>
          <a:solidFill>
            <a:srgbClr val="00A89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017520"/>
            <a:ext cx="274320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307238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 Agriculture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" y="349300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Decentralization, immutability, transparency &amp; smart contracts enable trustless governance. IBM Food Trust and Walmart pork/mango pilots proved blockchain traceability.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3017520"/>
            <a:ext cx="2743200" cy="1828800"/>
          </a:xfrm>
          <a:prstGeom prst="rect">
            <a:avLst/>
          </a:prstGeom>
          <a:solidFill>
            <a:srgbClr val="02C39A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017520"/>
            <a:ext cx="274320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07238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Benchmarks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349300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USA: licensed warehouses + insurance bonds + mandatory grading. EU: transparent quality standards. India lacks equivalent enforcement mechanisms for private warehouses.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743200" cy="1828800"/>
          </a:xfrm>
          <a:prstGeom prst="rect">
            <a:avLst/>
          </a:prstGeom>
          <a:solidFill>
            <a:srgbClr val="1C7293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2743200" cy="4114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072384"/>
            <a:ext cx="2523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3493008"/>
            <a:ext cx="252374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pilot has combined blockchain NFT-based e-WR + IoT quality sensors + WDRA compliance + farmer mobile interface in a unified permissioned system.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1A30"/>
          </a:solidFill>
          <a:ln w="12700">
            <a:solidFill>
              <a:srgbClr val="08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System Architecture – 6 Layers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8412480" cy="566928"/>
          </a:xfrm>
          <a:prstGeom prst="rect">
            <a:avLst/>
          </a:prstGeom>
          <a:solidFill>
            <a:srgbClr val="065A82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8755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98755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Infrastructure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987552"/>
            <a:ext cx="5029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sensors, weighing scales, quality assay devices, RFID tags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4340" y="1655064"/>
            <a:ext cx="8275320" cy="566928"/>
          </a:xfrm>
          <a:prstGeom prst="rect">
            <a:avLst/>
          </a:prstGeom>
          <a:solidFill>
            <a:srgbClr val="028090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" y="1655064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4420" y="16550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 &amp; IoT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34740" y="1655064"/>
            <a:ext cx="4892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quality measurement, tamper-proof sensor feeds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322576"/>
            <a:ext cx="8138160" cy="566928"/>
          </a:xfrm>
          <a:prstGeom prst="rect">
            <a:avLst/>
          </a:prstGeom>
          <a:solidFill>
            <a:srgbClr val="00A896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322576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232257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03320" y="2322576"/>
            <a:ext cx="4754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permissioned ledger, SHA-256 hashing, NFT tokens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1500" y="2990088"/>
            <a:ext cx="8001000" cy="566928"/>
          </a:xfrm>
          <a:prstGeom prst="rect">
            <a:avLst/>
          </a:prstGeom>
          <a:solidFill>
            <a:srgbClr val="02C39A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" y="2990088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11580" y="299008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71900" y="2990088"/>
            <a:ext cx="4617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Solidity/Go chaincode automating 7 stages: deposit→pledge→release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7863840" cy="566928"/>
          </a:xfrm>
          <a:prstGeom prst="rect">
            <a:avLst/>
          </a:prstGeom>
          <a:solidFill>
            <a:srgbClr val="1C7293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65760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65760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365760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mobile app, banker portal, WDRA dashboard, warehouse UI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8660" y="4325112"/>
            <a:ext cx="7726680" cy="566928"/>
          </a:xfrm>
          <a:prstGeom prst="rect">
            <a:avLst/>
          </a:prstGeom>
          <a:solidFill>
            <a:srgbClr val="21295C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" y="4325112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48740" y="432511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Compliance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09060" y="4325112"/>
            <a:ext cx="4343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WDRA regulatory interface, dispute resolution, audit logs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 rot="16200000">
            <a:off x="8595360" y="1005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Governance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 rot="16200000">
            <a:off x="8595360" y="4389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Hardware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Algorithms &amp; Design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64008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78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grain deposit token gets a unique tamper-proof identifier. Any change to stored data invalidates the hash chain.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411480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011680"/>
            <a:ext cx="64008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84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Tokenization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377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cryptographically encodes: grain species, grade, weight, warehouse ID, farmer ID, deposit timestamp.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11480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017520"/>
            <a:ext cx="64008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090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 Stages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automated stages: deposit → token generate → e-WR delivery → pledge for loan → loan disburse → repayment → release.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023360"/>
            <a:ext cx="4114800" cy="89611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4023360"/>
            <a:ext cx="64008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0965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(PBFT)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Byzantine Fault Tolerance ensures network integrity even if up to 1/3 of nodes are compromised or malicious.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Core Design Principles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1371600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Farmer-Centric Design – local language UI, low-literacy support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Decentralization – no single point of failure or control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Immutability – audit trail prevents retroactive changes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 – integrates with WDRA, banks, NABARD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– handles 100M+ annual warehouse transactions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Preservation – granular access control per role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Key Charts – Cost Analysis &amp; System Performance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420624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846320" y="960120"/>
          <a:ext cx="40233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Figures – Exploitation Patterns &amp; Fraud Prevention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960120"/>
          <a:ext cx="41148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2: Fraud Prevention – Before vs. After Blockchain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71600"/>
          <a:ext cx="4206240" cy="34747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Mechanism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After Blockchain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Duplicate WR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Possible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Cryptographically Impossible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Quality Fraud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Unverifiable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IoT-Recorded, Immutable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Audit Trail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Paper Only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Tamper-Proof Ledger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Loan Pledge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Smart Contract Auto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Dispute Resolution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No Evidence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Full On-Chain History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Farmer Access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Agent-Dependent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Direct Mobile App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Feasibility Analysis &amp;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2743200" cy="3950208"/>
          </a:xfrm>
          <a:prstGeom prst="rect">
            <a:avLst/>
          </a:prstGeom>
          <a:solidFill>
            <a:srgbClr val="065A82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87552"/>
            <a:ext cx="274320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058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2523744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breakthrough innovations required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100M+ annual transactions → &lt;1TB storage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Fabric: 3,000+ TPS capability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commercially available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UPI handles 8B+ monthly 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87552"/>
            <a:ext cx="2743200" cy="3950208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87552"/>
            <a:ext cx="274320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10058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481328"/>
            <a:ext cx="2523744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benefits: ₹1,000+ crores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cost: ₹150–200 Cr over 10 yrs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by Year 3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Benefit-cost ratio &gt; 5:1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reduction alone: ₹1,200–1,800 Cr/yr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987552"/>
            <a:ext cx="2743200" cy="3950208"/>
          </a:xfrm>
          <a:prstGeom prst="rect">
            <a:avLst/>
          </a:prstGeom>
          <a:solidFill>
            <a:srgbClr val="00A89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87552"/>
            <a:ext cx="2743200" cy="4389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00584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Feasibility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1481328"/>
            <a:ext cx="2523744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 2000 – e-records legally recognized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WDRA Act 2007 – regulatory backbone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e-Negotiable WR as digital document valid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Aadhaar integration for farmer identity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Supreme Court validates e-records (2018)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Socio-Economic Impact &amp; Projections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987552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669280" y="987552"/>
            <a:ext cx="3200400" cy="126187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669280" y="987552"/>
            <a:ext cx="64008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06440" y="10607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37160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verifiable receipts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quality records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loan access via e-WR pledge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interface support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2377440"/>
            <a:ext cx="3200400" cy="126187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377440"/>
            <a:ext cx="64008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45059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NABARD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276148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smart contract collateral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 pledges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NPAs from warehouse fraud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audit compliance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669280" y="3767328"/>
            <a:ext cx="3200400" cy="1261872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669280" y="3767328"/>
            <a:ext cx="64008" cy="12618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0644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415137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stabilization data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evidence from on-chain data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food wastage subsidies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 alignment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81A30"/>
          </a:solidFill>
          <a:ln w="12700">
            <a:solidFill>
              <a:srgbClr val="08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Conclusion &amp; Future Work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1371600"/>
          </a:xfrm>
          <a:prstGeom prst="rect">
            <a:avLst/>
          </a:prstGeom>
          <a:solidFill>
            <a:srgbClr val="0D3B6E"/>
          </a:solidFill>
          <a:ln/>
          <a:effectLst>
            <a:outerShdw blurRad="635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1371600"/>
          </a:xfrm>
          <a:prstGeom prst="rect">
            <a:avLst/>
          </a:prstGeom>
          <a:solidFill>
            <a:srgbClr val="F0C040"/>
          </a:solidFill>
          <a:ln w="12700">
            <a:solidFill>
              <a:srgbClr val="F0C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241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316736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proposed Blockchain e-WR system eliminates exploitation structurally by making data immutable, transparent, and farmer-accessible. Economic analysis confirms annual benefits exceeding ₹1,000 crores vs ₹150–200 crores implementation cost over 10 years—a benefit-cost ratio exceeding 5:1 with break-even at Year 3. Technology alone is insufficient; supportive policy frameworks and digital literacy programs are equally critical.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2743200" cy="841248"/>
          </a:xfrm>
          <a:prstGeom prst="rect">
            <a:avLst/>
          </a:prstGeom>
          <a:solidFill>
            <a:srgbClr val="0D3B6E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99008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RCT Evaluation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329184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 controlled trial design for rigorous empirical pilot evaluation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2926080"/>
            <a:ext cx="2743200" cy="841248"/>
          </a:xfrm>
          <a:prstGeom prst="rect">
            <a:avLst/>
          </a:prstGeom>
          <a:solidFill>
            <a:srgbClr val="0D3B6E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299008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Integration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0128" y="329184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automated quality monitoring via in-silo sensors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2926080"/>
            <a:ext cx="2743200" cy="841248"/>
          </a:xfrm>
          <a:prstGeom prst="rect">
            <a:avLst/>
          </a:prstGeom>
          <a:solidFill>
            <a:srgbClr val="0D3B6E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36208" y="299008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36208" y="329184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Inter-ledger protocols for multi-commodity, multi-geography WR systems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886200"/>
            <a:ext cx="2743200" cy="841248"/>
          </a:xfrm>
          <a:prstGeom prst="rect">
            <a:avLst/>
          </a:prstGeom>
          <a:solidFill>
            <a:srgbClr val="0D3B6E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95020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Fraud Detection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4251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anomaly detection on transaction patterns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3886200"/>
            <a:ext cx="2743200" cy="841248"/>
          </a:xfrm>
          <a:prstGeom prst="rect">
            <a:avLst/>
          </a:prstGeom>
          <a:solidFill>
            <a:srgbClr val="0D3B6E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395020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Expansion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10128" y="4251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SMS fallback for low-connectivity rural areas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886200"/>
            <a:ext cx="2743200" cy="841248"/>
          </a:xfrm>
          <a:prstGeom prst="rect">
            <a:avLst/>
          </a:prstGeom>
          <a:solidFill>
            <a:srgbClr val="0D3B6E"/>
          </a:solidFill>
          <a:ln w="635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95020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C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Integration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36208" y="4251960"/>
            <a:ext cx="25237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WDRA rulemaking to mandate e-WR for all licensed warehouses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548640"/>
            <a:ext cx="2743200" cy="2743200"/>
          </a:xfrm>
          <a:prstGeom prst="ellipse">
            <a:avLst/>
          </a:prstGeom>
          <a:solidFill>
            <a:srgbClr val="0D3B6E"/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822960"/>
            <a:ext cx="2194560" cy="2194560"/>
          </a:xfrm>
          <a:prstGeom prst="ellipse">
            <a:avLst/>
          </a:prstGeom>
          <a:solidFill>
            <a:srgbClr val="081A30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1417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926080" y="20116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attention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KABIR  |  23FE10CSE00150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136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Manipal University Jaipur  •  Project Based Learning – 4  •  VI Semester  •  Jan–May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4251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Ankur Pandey  |  Dept. of Computer Science &amp; Engineering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Electronic Warehouse Receipt System</dc:title>
  <dc:subject>PptxGenJS Presentation</dc:subject>
  <dc:creator>Kabir</dc:creator>
  <cp:lastModifiedBy>Kabir .</cp:lastModifiedBy>
  <cp:revision>2</cp:revision>
  <dcterms:created xsi:type="dcterms:W3CDTF">2026-04-14T04:49:57Z</dcterms:created>
  <dcterms:modified xsi:type="dcterms:W3CDTF">2026-04-14T04:59:22Z</dcterms:modified>
</cp:coreProperties>
</file>